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5" Type="http://schemas.openxmlformats.org/officeDocument/2006/relationships/image" Target="../media/image-4-1.png"/><Relationship Id="rId6" Type="http://schemas.openxmlformats.org/officeDocument/2006/relationships/image" Target="../media/image-4-2.png"/><Relationship Id="rId7" Type="http://schemas.openxmlformats.org/officeDocument/2006/relationships/image" Target="../media/image-4-1.png"/><Relationship Id="rId8" Type="http://schemas.openxmlformats.org/officeDocument/2006/relationships/image" Target="../media/image-4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image" Target="../media/image-7-2.png"/><Relationship Id="rId11" Type="http://schemas.openxmlformats.org/officeDocument/2006/relationships/image" Target="../media/image-7-2.png"/><Relationship Id="rId12" Type="http://schemas.openxmlformats.org/officeDocument/2006/relationships/image" Target="../media/image-7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photo_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0"/>
            <a:ext cx="60624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548640"/>
            <a:ext cx="1572768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2A0044">
                <a:alpha val="30000"/>
              </a:srgbClr>
            </a:outerShdw>
          </a:effectLst>
        </p:spPr>
      </p:sp>
      <p:pic>
        <p:nvPicPr>
          <p:cNvPr id="4" name="Image 1" descr="assets/conkosafe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76656"/>
            <a:ext cx="1243584" cy="10607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58368" y="2084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REGULATORIA PARA LATAM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58368" y="2450592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farmacovigilancia
</a:t>
            </a:r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inteligente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382219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Farmacovigilancia clara, conectada y accionable. Una plataforma con la tecnología de OpenAI, enriquecida con el conocimiento especializado de ConkoSafe.IA.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58368" y="5074920"/>
            <a:ext cx="1753819" cy="402336"/>
          </a:xfrm>
          <a:prstGeom prst="roundRect">
            <a:avLst>
              <a:gd name="adj" fmla="val 50000"/>
            </a:avLst>
          </a:prstGeom>
          <a:solidFill>
            <a:srgbClr val="5A1487"/>
          </a:solidFill>
          <a:ln w="12700">
            <a:solidFill>
              <a:srgbClr val="A860C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" y="5074920"/>
            <a:ext cx="1753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normativas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595067" y="5074920"/>
            <a:ext cx="2128723" cy="402336"/>
          </a:xfrm>
          <a:prstGeom prst="roundRect">
            <a:avLst>
              <a:gd name="adj" fmla="val 50000"/>
            </a:avLst>
          </a:prstGeom>
          <a:solidFill>
            <a:srgbClr val="5A1487"/>
          </a:solidFill>
          <a:ln w="12700">
            <a:solidFill>
              <a:srgbClr val="A860C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595067" y="5074920"/>
            <a:ext cx="21287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regulatoria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8368" y="5605272"/>
            <a:ext cx="2053742" cy="402336"/>
          </a:xfrm>
          <a:prstGeom prst="roundRect">
            <a:avLst>
              <a:gd name="adj" fmla="val 50000"/>
            </a:avLst>
          </a:prstGeom>
          <a:solidFill>
            <a:srgbClr val="5A1487"/>
          </a:solidFill>
          <a:ln w="12700">
            <a:solidFill>
              <a:srgbClr val="A860C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" y="5605272"/>
            <a:ext cx="2053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literatura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94990" y="5605272"/>
            <a:ext cx="2128723" cy="402336"/>
          </a:xfrm>
          <a:prstGeom prst="roundRect">
            <a:avLst>
              <a:gd name="adj" fmla="val 50000"/>
            </a:avLst>
          </a:prstGeom>
          <a:solidFill>
            <a:srgbClr val="5A1487"/>
          </a:solidFill>
          <a:ln w="12700">
            <a:solidFill>
              <a:srgbClr val="A860C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94990" y="5605272"/>
            <a:ext cx="21287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modificatorias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79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9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carga invisible del Responsable de FV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del riesgo regulatorio exige vigilancia continua — pero muchos equipos de farmacovigilancia en LATAM aún dependen de procesos manuales, dispersos y difíciles de escalar.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340156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2A004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3081528"/>
            <a:ext cx="841248" cy="841248"/>
          </a:xfrm>
          <a:prstGeom prst="ellipse">
            <a:avLst/>
          </a:prstGeom>
          <a:solidFill>
            <a:srgbClr val="F2E9F7"/>
          </a:solidFill>
          <a:ln/>
        </p:spPr>
      </p:sp>
      <p:pic>
        <p:nvPicPr>
          <p:cNvPr id="7" name="Image 0" descr="assets/layers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282696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406908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481888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regulatorios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518464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 por producto en la región LATAM.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94860" y="2697480"/>
            <a:ext cx="340156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2A004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60620" y="3081528"/>
            <a:ext cx="841248" cy="841248"/>
          </a:xfrm>
          <a:prstGeom prst="ellipse">
            <a:avLst/>
          </a:prstGeom>
          <a:solidFill>
            <a:srgbClr val="F2E9F7"/>
          </a:solidFill>
          <a:ln/>
        </p:spPr>
      </p:sp>
      <p:pic>
        <p:nvPicPr>
          <p:cNvPr id="13" name="Image 1" descr="assets/users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3282696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42332" y="406908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pPr indent="0" marL="0">
              <a:buNone/>
            </a:pPr>
            <a:endParaRPr lang="en-US" sz="4600" dirty="0"/>
          </a:p>
        </p:txBody>
      </p:sp>
      <p:sp>
        <p:nvSpPr>
          <p:cNvPr id="15" name="Text 11"/>
          <p:cNvSpPr txBox="1"/>
          <p:nvPr/>
        </p:nvSpPr>
        <p:spPr>
          <a:xfrm>
            <a:off x="4960620" y="481888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por equipo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960620" y="518464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típico del área de farmacovigilancia.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531352" y="2697480"/>
            <a:ext cx="340156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2A0044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897112" y="3081528"/>
            <a:ext cx="841248" cy="841248"/>
          </a:xfrm>
          <a:prstGeom prst="ellipse">
            <a:avLst/>
          </a:prstGeom>
          <a:solidFill>
            <a:srgbClr val="F2E9F7"/>
          </a:solidFill>
          <a:ln/>
        </p:spPr>
      </p:sp>
      <p:pic>
        <p:nvPicPr>
          <p:cNvPr id="19" name="Image 2" descr="assets/clock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82696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78824" y="406908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pPr indent="0" marL="0">
              <a:buNone/>
            </a:pPr>
            <a:r>
              <a:rPr lang="en-US" sz="26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</a:t>
            </a:r>
            <a:endParaRPr lang="en-US" sz="46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481888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máximo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897112" y="518464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reportar un ICSR grave a la autoridad.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módulos, un ecosistema integrado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2E9F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276856"/>
            <a:ext cx="749808" cy="749808"/>
          </a:xfrm>
          <a:prstGeom prst="ellipse">
            <a:avLst/>
          </a:prstGeom>
          <a:solidFill>
            <a:srgbClr val="48006C"/>
          </a:solidFill>
          <a:ln/>
        </p:spPr>
      </p:sp>
      <p:pic>
        <p:nvPicPr>
          <p:cNvPr id="6" name="Image 0" descr="assets/sitemap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67528" y="21122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6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865376" y="21854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Normativas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865376" y="255117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normativa de FV/TV siempre actualizada, con acceso a normas vigentes y cobertura DIGEMID y LATAM.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658368" y="3447288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2E9F7"/>
          </a:solidFill>
          <a:ln/>
        </p:spPr>
      </p:sp>
      <p:sp>
        <p:nvSpPr>
          <p:cNvPr id="11" name="Shape 8"/>
          <p:cNvSpPr/>
          <p:nvPr/>
        </p:nvSpPr>
        <p:spPr>
          <a:xfrm>
            <a:off x="932688" y="3758184"/>
            <a:ext cx="749808" cy="749808"/>
          </a:xfrm>
          <a:prstGeom prst="ellipse">
            <a:avLst/>
          </a:prstGeom>
          <a:solidFill>
            <a:srgbClr val="48006C"/>
          </a:solidFill>
          <a:ln/>
        </p:spPr>
      </p:sp>
      <p:pic>
        <p:nvPicPr>
          <p:cNvPr id="12" name="Image 1" descr="assets/robot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39502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67528" y="35935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6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865376" y="36667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Regulatoria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865376" y="403250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normativa en lenguaje natural y encuentra obligaciones, plazos y procedimientos en un solo lugar.</a:t>
            </a:r>
            <a:endParaRPr lang="en-US" sz="1230" dirty="0"/>
          </a:p>
        </p:txBody>
      </p:sp>
      <p:sp>
        <p:nvSpPr>
          <p:cNvPr id="16" name="Shape 12"/>
          <p:cNvSpPr/>
          <p:nvPr/>
        </p:nvSpPr>
        <p:spPr>
          <a:xfrm>
            <a:off x="658368" y="4928616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2E9F7"/>
          </a:solidFill>
          <a:ln/>
        </p:spPr>
      </p:sp>
      <p:sp>
        <p:nvSpPr>
          <p:cNvPr id="17" name="Shape 13"/>
          <p:cNvSpPr/>
          <p:nvPr/>
        </p:nvSpPr>
        <p:spPr>
          <a:xfrm>
            <a:off x="932688" y="5239512"/>
            <a:ext cx="749808" cy="749808"/>
          </a:xfrm>
          <a:prstGeom prst="ellipse">
            <a:avLst/>
          </a:prstGeom>
          <a:solidFill>
            <a:srgbClr val="48006C"/>
          </a:solidFill>
          <a:ln/>
        </p:spPr>
      </p:sp>
      <p:pic>
        <p:nvPicPr>
          <p:cNvPr id="18" name="Image 2" descr="assets/micro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543153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67528" y="5074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6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865376" y="5148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 Literatura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1865376" y="55138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en vivo de literatura científica por principio activo para detectar casos y RAM en Perú, Colombia, México y LATAM.</a:t>
            </a:r>
            <a:endParaRPr lang="en-US" sz="1230" dirty="0"/>
          </a:p>
        </p:txBody>
      </p:sp>
      <p:sp>
        <p:nvSpPr>
          <p:cNvPr id="22" name="Shape 17"/>
          <p:cNvSpPr/>
          <p:nvPr/>
        </p:nvSpPr>
        <p:spPr>
          <a:xfrm>
            <a:off x="6720840" y="1828800"/>
            <a:ext cx="4800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1D2EC"/>
            </a:solidFill>
            <a:prstDash val="solid"/>
          </a:ln>
          <a:effectLst>
            <a:outerShdw sx="100000" sy="100000" kx="0" ky="0" algn="bl" rotWithShape="0" blurRad="203200" dist="50800" dir="5400000">
              <a:srgbClr val="2A0044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20840" y="1828800"/>
            <a:ext cx="4800600" cy="566928"/>
          </a:xfrm>
          <a:prstGeom prst="roundRect">
            <a:avLst>
              <a:gd name="adj" fmla="val 16129"/>
            </a:avLst>
          </a:prstGeom>
          <a:solidFill>
            <a:srgbClr val="48006C"/>
          </a:solidFill>
          <a:ln/>
        </p:spPr>
      </p:sp>
      <p:sp>
        <p:nvSpPr>
          <p:cNvPr id="24" name="Shape 19"/>
          <p:cNvSpPr/>
          <p:nvPr/>
        </p:nvSpPr>
        <p:spPr>
          <a:xfrm>
            <a:off x="6720840" y="2112264"/>
            <a:ext cx="4800600" cy="283464"/>
          </a:xfrm>
          <a:prstGeom prst="rect">
            <a:avLst/>
          </a:prstGeom>
          <a:solidFill>
            <a:srgbClr val="48006C"/>
          </a:solidFill>
          <a:ln/>
        </p:spPr>
      </p:sp>
      <p:sp>
        <p:nvSpPr>
          <p:cNvPr id="25" name="Shape 20"/>
          <p:cNvSpPr/>
          <p:nvPr/>
        </p:nvSpPr>
        <p:spPr>
          <a:xfrm>
            <a:off x="6922008" y="2048256"/>
            <a:ext cx="109728" cy="109728"/>
          </a:xfrm>
          <a:prstGeom prst="ellipse">
            <a:avLst/>
          </a:prstGeom>
          <a:solidFill>
            <a:srgbClr val="7B4BA0"/>
          </a:solidFill>
          <a:ln/>
        </p:spPr>
      </p:sp>
      <p:sp>
        <p:nvSpPr>
          <p:cNvPr id="26" name="Shape 21"/>
          <p:cNvSpPr/>
          <p:nvPr/>
        </p:nvSpPr>
        <p:spPr>
          <a:xfrm>
            <a:off x="7104888" y="2048256"/>
            <a:ext cx="109728" cy="109728"/>
          </a:xfrm>
          <a:prstGeom prst="ellipse">
            <a:avLst/>
          </a:prstGeom>
          <a:solidFill>
            <a:srgbClr val="7B4BA0"/>
          </a:solidFill>
          <a:ln/>
        </p:spPr>
      </p:sp>
      <p:sp>
        <p:nvSpPr>
          <p:cNvPr id="27" name="Shape 22"/>
          <p:cNvSpPr/>
          <p:nvPr/>
        </p:nvSpPr>
        <p:spPr>
          <a:xfrm>
            <a:off x="7287768" y="2048256"/>
            <a:ext cx="109728" cy="109728"/>
          </a:xfrm>
          <a:prstGeom prst="ellipse">
            <a:avLst/>
          </a:prstGeom>
          <a:solidFill>
            <a:srgbClr val="7B4BA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0" y="18288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Normativas — ConkoSafe.IA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976872" y="2606040"/>
            <a:ext cx="4288536" cy="457200"/>
          </a:xfrm>
          <a:prstGeom prst="roundRect">
            <a:avLst>
              <a:gd name="adj" fmla="val 16000"/>
            </a:avLst>
          </a:prstGeom>
          <a:solidFill>
            <a:srgbClr val="F2E9F7"/>
          </a:solidFill>
          <a:ln w="12700">
            <a:solidFill>
              <a:srgbClr val="E1D2EC"/>
            </a:solidFill>
            <a:prstDash val="solid"/>
          </a:ln>
        </p:spPr>
      </p:sp>
      <p:pic>
        <p:nvPicPr>
          <p:cNvPr id="30" name="Image 3" descr="assets/search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734056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434072" y="2606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8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país, norma, fecha o tema…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976872" y="3246120"/>
            <a:ext cx="4288536" cy="749808"/>
          </a:xfrm>
          <a:prstGeom prst="roundRect">
            <a:avLst>
              <a:gd name="adj" fmla="val 9756"/>
            </a:avLst>
          </a:prstGeom>
          <a:solidFill>
            <a:srgbClr val="FBF8FD"/>
          </a:solidFill>
          <a:ln w="12700">
            <a:solidFill>
              <a:srgbClr val="E1D2EC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14146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PERÚ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141464" y="3630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DIGEMID · RAM · 24 horas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0991088" y="350215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Shape 30"/>
          <p:cNvSpPr/>
          <p:nvPr/>
        </p:nvSpPr>
        <p:spPr>
          <a:xfrm>
            <a:off x="6976872" y="4114800"/>
            <a:ext cx="4288536" cy="749808"/>
          </a:xfrm>
          <a:prstGeom prst="roundRect">
            <a:avLst>
              <a:gd name="adj" fmla="val 9756"/>
            </a:avLst>
          </a:prstGeom>
          <a:solidFill>
            <a:srgbClr val="FBF8FD"/>
          </a:solidFill>
          <a:ln w="12700">
            <a:solidFill>
              <a:srgbClr val="E1D2EC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41464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7141464" y="44988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INVIMA · EA serio inesperado · 72 h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10991088" y="4370832"/>
            <a:ext cx="201168" cy="201168"/>
          </a:xfrm>
          <a:prstGeom prst="ellipse">
            <a:avLst/>
          </a:prstGeom>
          <a:solidFill>
            <a:srgbClr val="FBB040"/>
          </a:solidFill>
          <a:ln/>
        </p:spPr>
      </p:sp>
      <p:sp>
        <p:nvSpPr>
          <p:cNvPr id="40" name="Shape 34"/>
          <p:cNvSpPr/>
          <p:nvPr/>
        </p:nvSpPr>
        <p:spPr>
          <a:xfrm>
            <a:off x="6976872" y="4983480"/>
            <a:ext cx="4288536" cy="749808"/>
          </a:xfrm>
          <a:prstGeom prst="roundRect">
            <a:avLst>
              <a:gd name="adj" fmla="val 9756"/>
            </a:avLst>
          </a:prstGeom>
          <a:solidFill>
            <a:srgbClr val="FBF8FD"/>
          </a:solidFill>
          <a:ln w="12700">
            <a:solidFill>
              <a:srgbClr val="E1D2EC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141464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7141464" y="5367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ANVISA · NOTIVISA · PSUR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10991088" y="5239512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vs. después de ConkoSafe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1874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24528" y="18288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E9E1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07408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6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27848" y="18288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48006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10728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CONKOSAFE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14600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de normas DIGEMID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24528" y="2514600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11" name="Image 0" descr="assets/x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696" y="278892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791456" y="2514600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y esporádica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27848" y="2514600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5875">
            <a:solidFill>
              <a:srgbClr val="FBB040"/>
            </a:solidFill>
            <a:prstDash val="solid"/>
          </a:ln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14" name="Image 1" descr="assets/check_g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278892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494776" y="2514600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Centralizada, con modificaciones visibles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49808" y="3419856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sobre obligaciones de FV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224528" y="3419856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18" name="Image 2" descr="assets/x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369417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91456" y="3419856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portales dispersos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927848" y="3419856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5875">
            <a:solidFill>
              <a:srgbClr val="FBB040"/>
            </a:solidFill>
            <a:prstDash val="solid"/>
          </a:ln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21" name="Image 3" descr="assets/check_g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36941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94776" y="3419856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abierta, respuesta inmediata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325112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 literatura médica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224528" y="4325112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25" name="Image 4" descr="assets/x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459943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91456" y="4325112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Inviable en equipos de 1–3 personas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927848" y="4325112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5875">
            <a:solidFill>
              <a:srgbClr val="FBB040"/>
            </a:solidFill>
            <a:prstDash val="solid"/>
          </a:ln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28" name="Image 5" descr="assets/check_gr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4599432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494776" y="4325112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vivo con detección de RAM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749808" y="5230368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regional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4224528" y="5230368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32" name="Image 6" descr="assets/x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696" y="550468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791456" y="523036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país por país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7927848" y="5230368"/>
            <a:ext cx="3566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5875">
            <a:solidFill>
              <a:srgbClr val="FBB040"/>
            </a:solidFill>
            <a:prstDash val="solid"/>
          </a:ln>
          <a:effectLst>
            <a:outerShdw sx="100000" sy="100000" kx="0" ky="0" algn="bl" rotWithShape="0" blurRad="101600" dist="50800" dir="5400000">
              <a:srgbClr val="2A0044">
                <a:alpha val="10000"/>
              </a:srgbClr>
            </a:outerShdw>
          </a:effectLst>
        </p:spPr>
      </p:sp>
      <p:pic>
        <p:nvPicPr>
          <p:cNvPr id="35" name="Image 7" descr="assets/check_gr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16" y="550468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94776" y="5230368"/>
            <a:ext cx="2880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Perú, Colombia, México y LATAM</a:t>
            </a:r>
            <a:endParaRPr lang="en-US" sz="1250" dirty="0"/>
          </a:p>
        </p:txBody>
      </p:sp>
      <p:sp>
        <p:nvSpPr>
          <p:cNvPr id="37" name="Text 27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38" name="Text 2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REGIONAL · LATAM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requisitos de farmacovigilancia en segundos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95528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898648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/ SERIO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47488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SERIO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922008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19488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6060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5115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Perú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60604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26060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días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67728" y="260604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NotiMED / eReporting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65208" y="26060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· ICH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44728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A0B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4728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Colombia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344728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horas*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93208" y="344728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Bimestral*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344728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SIVICOS / FORAM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65208" y="344728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requerimiento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428853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5115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288536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44368" y="428853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7–15 días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93208" y="4288536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4288536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NOTIVISA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65208" y="428853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· ICH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" y="512978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A0B5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129784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 Rica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44368" y="512978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93208" y="512978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 lab.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512978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Noti-FACEDRA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665208" y="51297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· ICH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6016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*Según el tipo y la condición del evento. Verifique siempre la fuente regulatoria vigente.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79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9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ESPECIALIZADA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que apoya; el experto valida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5074920" cy="3246120"/>
          </a:xfrm>
          <a:prstGeom prst="roundRect">
            <a:avLst>
              <a:gd name="adj" fmla="val 3944"/>
            </a:avLst>
          </a:prstGeom>
          <a:solidFill>
            <a:srgbClr val="48006C"/>
          </a:solidFill>
          <a:ln/>
          <a:effectLst>
            <a:outerShdw sx="100000" sy="100000" kx="0" ky="0" algn="bl" rotWithShape="0" blurRad="177800" dist="50800" dir="5400000">
              <a:srgbClr val="2A004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350008"/>
            <a:ext cx="777240" cy="777240"/>
          </a:xfrm>
          <a:prstGeom prst="ellipse">
            <a:avLst/>
          </a:prstGeom>
          <a:solidFill>
            <a:srgbClr val="5E1A8A"/>
          </a:solidFill>
          <a:ln/>
        </p:spPr>
      </p:sp>
      <p:pic>
        <p:nvPicPr>
          <p:cNvPr id="6" name="Image 0" descr="assets/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42416" y="32918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ConkoSafe.IA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42416" y="37764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RESPALDO DE CONKOMERCO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416052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7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regulatorio en Perú y Colombia para DIGEMID e INVIMA. Consultora certificada ISO 9001:2015 con más de 15 años de experiencia.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3063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07492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5875">
            <a:solidFill>
              <a:srgbClr val="E1D2EC"/>
            </a:solidFill>
            <a:prstDash val="solid"/>
          </a:ln>
          <a:effectLst>
            <a:outerShdw sx="100000" sy="100000" kx="0" ky="0" algn="bl" rotWithShape="0" blurRad="177800" dist="50800" dir="5400000">
              <a:srgbClr val="2A0044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12280" y="2350008"/>
            <a:ext cx="777240" cy="777240"/>
          </a:xfrm>
          <a:prstGeom prst="ellipse">
            <a:avLst/>
          </a:prstGeom>
          <a:solidFill>
            <a:srgbClr val="48006C"/>
          </a:solidFill>
          <a:ln/>
        </p:spPr>
      </p:sp>
      <p:pic>
        <p:nvPicPr>
          <p:cNvPr id="13" name="Image 1" descr="assets/brai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5420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30568" y="32918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0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OpenAI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830568" y="3840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lenguaje, síntesis y asistencia conversacional aplicadas a un contexto regulatorio especializado.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830568" y="4636008"/>
            <a:ext cx="4306824" cy="457200"/>
          </a:xfrm>
          <a:prstGeom prst="roundRect">
            <a:avLst>
              <a:gd name="adj" fmla="val 20000"/>
            </a:avLst>
          </a:prstGeom>
          <a:solidFill>
            <a:srgbClr val="EAF6E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30568" y="4636008"/>
            <a:ext cx="4306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regulatoria con validación humana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8368" y="5623560"/>
            <a:ext cx="1586484" cy="45720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8368" y="5623560"/>
            <a:ext cx="1586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2446020" y="5623560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446020" y="5623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países LATAM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407408" y="5623560"/>
            <a:ext cx="1673352" cy="45720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407408" y="56235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24/7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281928" y="5623560"/>
            <a:ext cx="3150108" cy="457200"/>
          </a:xfrm>
          <a:prstGeom prst="roundRect">
            <a:avLst>
              <a:gd name="adj" fmla="val 50000"/>
            </a:avLst>
          </a:prstGeom>
          <a:solidFill>
            <a:srgbClr val="F2E9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281928" y="5623560"/>
            <a:ext cx="3150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8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oficial de GPT verificada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8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la complejidad regulatoria en decisiones más ágiles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83080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6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CONKOSAFE.IA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025128" y="17830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6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TERCERIZADO CONKOMERCO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2615184" cy="3429000"/>
          </a:xfrm>
          <a:prstGeom prst="roundRect">
            <a:avLst>
              <a:gd name="adj" fmla="val 4196"/>
            </a:avLst>
          </a:prstGeom>
          <a:solidFill>
            <a:srgbClr val="3A0B58"/>
          </a:solidFill>
          <a:ln w="12700">
            <a:solidFill>
              <a:srgbClr val="6A3690"/>
            </a:solidFill>
            <a:prstDash val="solid"/>
          </a:ln>
          <a:effectLst>
            <a:outerShdw sx="100000" sy="100000" kx="0" ky="0" algn="bl" rotWithShape="0" blurRad="152400" dist="50800" dir="5400000">
              <a:srgbClr val="2A004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4048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Básico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072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S/. 200</a:t>
            </a:r>
            <a:pPr indent="0" marL="0">
              <a:buNone/>
            </a:pPr>
            <a:r>
              <a:rPr lang="en-US" sz="1200" dirty="0">
                <a:solidFill>
                  <a:srgbClr val="CBB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00" y="3447288"/>
            <a:ext cx="2103120" cy="0"/>
          </a:xfrm>
          <a:prstGeom prst="line">
            <a:avLst/>
          </a:prstGeom>
          <a:noFill/>
          <a:ln w="12700">
            <a:solidFill>
              <a:srgbClr val="6A3690"/>
            </a:solidFill>
            <a:prstDash val="solid"/>
          </a:ln>
        </p:spPr>
      </p:sp>
      <p:pic>
        <p:nvPicPr>
          <p:cNvPr id="10" name="Image 0" descr="assets/checkc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30168"/>
            <a:ext cx="164592" cy="1645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35753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alertas cada 3 días</a:t>
            </a:r>
            <a:endParaRPr lang="en-US" sz="1100" dirty="0"/>
          </a:p>
        </p:txBody>
      </p:sp>
      <p:pic>
        <p:nvPicPr>
          <p:cNvPr id="12" name="Image 1" descr="assets/checkc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3367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41788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Modificatorias de registro sanitario por agencia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47288" y="2148840"/>
            <a:ext cx="2615184" cy="3429000"/>
          </a:xfrm>
          <a:prstGeom prst="roundRect">
            <a:avLst>
              <a:gd name="adj" fmla="val 4196"/>
            </a:avLst>
          </a:prstGeom>
          <a:solidFill>
            <a:srgbClr val="3A0B58"/>
          </a:solidFill>
          <a:ln w="12700">
            <a:solidFill>
              <a:srgbClr val="6A3690"/>
            </a:solidFill>
            <a:prstDash val="solid"/>
          </a:ln>
          <a:effectLst>
            <a:outerShdw sx="100000" sy="100000" kx="0" ky="0" algn="bl" rotWithShape="0" blurRad="152400" dist="50800" dir="5400000">
              <a:srgbClr val="2A0044">
                <a:alpha val="2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703320" y="24048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Profesional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28072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S/. 300</a:t>
            </a:r>
            <a:pPr indent="0" marL="0">
              <a:buNone/>
            </a:pPr>
            <a:r>
              <a:rPr lang="en-US" sz="1200" dirty="0">
                <a:solidFill>
                  <a:srgbClr val="CBB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mes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3703320" y="3447288"/>
            <a:ext cx="2103120" cy="0"/>
          </a:xfrm>
          <a:prstGeom prst="line">
            <a:avLst/>
          </a:prstGeom>
          <a:noFill/>
          <a:ln w="12700">
            <a:solidFill>
              <a:srgbClr val="6A3690"/>
            </a:solidFill>
            <a:prstDash val="solid"/>
          </a:ln>
        </p:spPr>
      </p:sp>
      <p:pic>
        <p:nvPicPr>
          <p:cNvPr id="18" name="Image 2" descr="assets/checkc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630168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31920" y="35753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Plan Básico</a:t>
            </a:r>
            <a:endParaRPr lang="en-US" sz="1100" dirty="0"/>
          </a:p>
        </p:txBody>
      </p:sp>
      <p:pic>
        <p:nvPicPr>
          <p:cNvPr id="20" name="Image 3" descr="assets/checkc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4059936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931920" y="40050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26 agencias regulatorias cada mes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236208" y="2148840"/>
            <a:ext cx="2615184" cy="3429000"/>
          </a:xfrm>
          <a:prstGeom prst="roundRect">
            <a:avLst>
              <a:gd name="adj" fmla="val 4196"/>
            </a:avLst>
          </a:prstGeom>
          <a:solidFill>
            <a:srgbClr val="5A1487"/>
          </a:solidFill>
          <a:ln w="25400">
            <a:solidFill>
              <a:srgbClr val="FBB040"/>
            </a:solidFill>
            <a:prstDash val="solid"/>
          </a:ln>
          <a:effectLst>
            <a:outerShdw sx="100000" sy="100000" kx="0" ky="0" algn="bl" rotWithShape="0" blurRad="152400" dist="50800" dir="5400000">
              <a:srgbClr val="2A0044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616952" y="20025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BB040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616952" y="20025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0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6492240" y="24048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Premium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6492240" y="28072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S/. 500</a:t>
            </a:r>
            <a:pPr indent="0" marL="0">
              <a:buNone/>
            </a:pPr>
            <a:r>
              <a:rPr lang="en-US" sz="1200" dirty="0">
                <a:solidFill>
                  <a:srgbClr val="CBB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mes</a:t>
            </a:r>
            <a:endParaRPr lang="en-US" sz="2600" dirty="0"/>
          </a:p>
        </p:txBody>
      </p:sp>
      <p:sp>
        <p:nvSpPr>
          <p:cNvPr id="27" name="Shape 21"/>
          <p:cNvSpPr/>
          <p:nvPr/>
        </p:nvSpPr>
        <p:spPr>
          <a:xfrm>
            <a:off x="6492240" y="3447288"/>
            <a:ext cx="2103120" cy="0"/>
          </a:xfrm>
          <a:prstGeom prst="line">
            <a:avLst/>
          </a:prstGeom>
          <a:noFill/>
          <a:ln w="12700">
            <a:solidFill>
              <a:srgbClr val="6A3690"/>
            </a:solidFill>
            <a:prstDash val="solid"/>
          </a:ln>
        </p:spPr>
      </p:sp>
      <p:pic>
        <p:nvPicPr>
          <p:cNvPr id="28" name="Image 4" descr="assets/checkc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630168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20840" y="35753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Plan Profesional</a:t>
            </a:r>
            <a:endParaRPr lang="en-US" sz="1100" dirty="0"/>
          </a:p>
        </p:txBody>
      </p:sp>
      <p:pic>
        <p:nvPicPr>
          <p:cNvPr id="30" name="Image 5" descr="assets/checkc_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05993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20840" y="400507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plataforma ConkoSafe.IA</a:t>
            </a:r>
            <a:endParaRPr lang="en-US" sz="1100" dirty="0"/>
          </a:p>
        </p:txBody>
      </p:sp>
      <p:pic>
        <p:nvPicPr>
          <p:cNvPr id="32" name="Image 6" descr="assets/checkc_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663440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720840" y="460857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reportes mensuales según procedimiento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9025128" y="2148840"/>
            <a:ext cx="2615184" cy="3429000"/>
          </a:xfrm>
          <a:prstGeom prst="roundRect">
            <a:avLst>
              <a:gd name="adj" fmla="val 4196"/>
            </a:avLst>
          </a:prstGeom>
          <a:solidFill>
            <a:srgbClr val="3A0B58"/>
          </a:solidFill>
          <a:ln w="12700">
            <a:solidFill>
              <a:srgbClr val="6A3690"/>
            </a:solidFill>
            <a:prstDash val="solid"/>
          </a:ln>
          <a:effectLst>
            <a:outerShdw sx="100000" sy="100000" kx="0" ky="0" algn="bl" rotWithShape="0" blurRad="152400" dist="50800" dir="5400000">
              <a:srgbClr val="2A0044">
                <a:alpha val="25000"/>
              </a:srgbClr>
            </a:outerShdw>
          </a:effectLst>
        </p:spPr>
      </p:sp>
      <p:sp>
        <p:nvSpPr>
          <p:cNvPr id="35" name="Text 26"/>
          <p:cNvSpPr txBox="1"/>
          <p:nvPr/>
        </p:nvSpPr>
        <p:spPr>
          <a:xfrm>
            <a:off x="9281160" y="24048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Tercerización</a:t>
            </a:r>
            <a:endParaRPr lang="en-US" sz="1550" dirty="0"/>
          </a:p>
        </p:txBody>
      </p:sp>
      <p:sp>
        <p:nvSpPr>
          <p:cNvPr id="36" name="Text 27"/>
          <p:cNvSpPr txBox="1"/>
          <p:nvPr/>
        </p:nvSpPr>
        <p:spPr>
          <a:xfrm>
            <a:off x="9281160" y="28072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cotizar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37" name="Shape 28"/>
          <p:cNvSpPr/>
          <p:nvPr/>
        </p:nvSpPr>
        <p:spPr>
          <a:xfrm>
            <a:off x="9281160" y="3447288"/>
            <a:ext cx="2103120" cy="0"/>
          </a:xfrm>
          <a:prstGeom prst="line">
            <a:avLst/>
          </a:prstGeom>
          <a:noFill/>
          <a:ln w="12700">
            <a:solidFill>
              <a:srgbClr val="6A3690"/>
            </a:solidFill>
            <a:prstDash val="solid"/>
          </a:ln>
        </p:spPr>
      </p:sp>
      <p:pic>
        <p:nvPicPr>
          <p:cNvPr id="38" name="Image 7" descr="assets/checkc_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1160" y="3630168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509760" y="35753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moléculas y emisión de reportes</a:t>
            </a:r>
            <a:endParaRPr lang="en-US" sz="1100" dirty="0"/>
          </a:p>
        </p:txBody>
      </p:sp>
      <p:pic>
        <p:nvPicPr>
          <p:cNvPr id="40" name="Image 8" descr="assets/checkc_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160" y="4233672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9509760" y="41788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Informes Periódicos de Seguridad</a:t>
            </a:r>
            <a:endParaRPr lang="en-US" sz="1100" dirty="0"/>
          </a:p>
        </p:txBody>
      </p:sp>
      <p:pic>
        <p:nvPicPr>
          <p:cNvPr id="42" name="Image 9" descr="assets/checkc_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1160" y="4837176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9509760" y="478231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riesgo-beneficio y detección de señales</a:t>
            </a:r>
            <a:endParaRPr lang="en-US" sz="1100" dirty="0"/>
          </a:p>
        </p:txBody>
      </p:sp>
      <p:pic>
        <p:nvPicPr>
          <p:cNvPr id="44" name="Image 10" descr="assets/checkc_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1160" y="5440680"/>
            <a:ext cx="164592" cy="16459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9509760" y="53858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E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dedicado para la empresa</a:t>
            </a:r>
            <a:endParaRPr lang="en-US" sz="1100" dirty="0"/>
          </a:p>
        </p:txBody>
      </p:sp>
      <p:sp>
        <p:nvSpPr>
          <p:cNvPr id="46" name="Text 33"/>
          <p:cNvSpPr txBox="1"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www.conkomerco.com</a:t>
            </a:r>
            <a:pPr algn="l" indent="0" marL="0">
              <a:buNone/>
            </a:pPr>
            <a:r>
              <a:rPr lang="en-US" sz="1200" dirty="0">
                <a:solidFill>
                  <a:srgbClr val="CB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conkosafe@conkomercoplataforma.com</a:t>
            </a:r>
            <a:pPr algn="l" indent="0" marL="0">
              <a:buNone/>
            </a:pPr>
            <a:r>
              <a:rPr lang="en-US" sz="1200" dirty="0">
                <a:solidFill>
                  <a:srgbClr val="CB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WhatsApp +51 926 803 293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79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CONKOSAFE · FARMACOVIGILANCIA LATAM</a:t>
            </a:r>
            <a:endParaRPr lang="en-US" sz="850" dirty="0"/>
          </a:p>
        </p:txBody>
      </p:sp>
      <p:sp>
        <p:nvSpPr>
          <p:cNvPr id="48" name="Text 35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9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2026-09-07T14:06:21Z</dcterms:created>
  <dcterms:modified xsi:type="dcterms:W3CDTF">2026-09-07T14:06:21Z</dcterms:modified>
</cp:coreProperties>
</file>